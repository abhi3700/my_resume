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104D"/>
    <a:srgbClr val="402290"/>
    <a:srgbClr val="1C23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/>
    <p:restoredTop sz="95707"/>
  </p:normalViewPr>
  <p:slideViewPr>
    <p:cSldViewPr snapToGrid="0">
      <p:cViewPr>
        <p:scale>
          <a:sx n="147" d="100"/>
          <a:sy n="147" d="100"/>
        </p:scale>
        <p:origin x="1112" y="-4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BEAD1-672E-E841-95FA-08B9B35A46D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597C0-0EAD-2246-B07D-EA9B7519C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1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597C0-0EAD-2246-B07D-EA9B7519C8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60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597C0-0EAD-2246-B07D-EA9B7519C8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3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2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1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2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61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0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89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8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0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96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0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7C049-F611-094D-8104-5764D8D042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10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hyperlink" Target="https://twitter.com/abhi3700" TargetMode="External"/><Relationship Id="rId26" Type="http://schemas.openxmlformats.org/officeDocument/2006/relationships/image" Target="../media/image8.png"/><Relationship Id="rId3" Type="http://schemas.openxmlformats.org/officeDocument/2006/relationships/hyperlink" Target="https://github.com/facebook/winterfell/pull/210" TargetMode="External"/><Relationship Id="rId21" Type="http://schemas.openxmlformats.org/officeDocument/2006/relationships/image" Target="../media/image3.svg"/><Relationship Id="rId34" Type="http://schemas.openxmlformats.org/officeDocument/2006/relationships/hyperlink" Target="https://github.com/abhi3700/unifi-dev-kit" TargetMode="External"/><Relationship Id="rId7" Type="http://schemas.openxmlformats.org/officeDocument/2006/relationships/hyperlink" Target="ttps://github.com/paritytech/substrate/pull/14348" TargetMode="External"/><Relationship Id="rId12" Type="http://schemas.openxmlformats.org/officeDocument/2006/relationships/hyperlink" Target="https://www.drife.io/" TargetMode="External"/><Relationship Id="rId17" Type="http://schemas.openxmlformats.org/officeDocument/2006/relationships/hyperlink" Target="https://t.me/abhi3700" TargetMode="External"/><Relationship Id="rId25" Type="http://schemas.openxmlformats.org/officeDocument/2006/relationships/image" Target="../media/image7.svg"/><Relationship Id="rId33" Type="http://schemas.openxmlformats.org/officeDocument/2006/relationships/hyperlink" Target="https://www.linkedin.com/pulse/rock-paper-scissors-game-rust-using-commit-reveal-cryptography-roy/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://abhi3700.medium.com/" TargetMode="External"/><Relationship Id="rId20" Type="http://schemas.openxmlformats.org/officeDocument/2006/relationships/image" Target="../media/image2.png"/><Relationship Id="rId29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telos.net/validator-nodes/setting-up-telos-validator-nodes#what-is-the-role-of-a-telos-validator" TargetMode="External"/><Relationship Id="rId11" Type="http://schemas.openxmlformats.org/officeDocument/2006/relationships/hyperlink" Target="https://github.com/abhi3700/eosio_cevenparks_contracts/tree/main/cevenparksio" TargetMode="External"/><Relationship Id="rId24" Type="http://schemas.openxmlformats.org/officeDocument/2006/relationships/image" Target="../media/image6.png"/><Relationship Id="rId32" Type="http://schemas.openxmlformats.org/officeDocument/2006/relationships/hyperlink" Target="https://www.coursera.org/projects/rust-for-beginners-gp" TargetMode="External"/><Relationship Id="rId5" Type="http://schemas.openxmlformats.org/officeDocument/2006/relationships/hyperlink" Target="https://github.com/OpenZeppelin/openzeppelin-contracts/pull/3515" TargetMode="External"/><Relationship Id="rId15" Type="http://schemas.openxmlformats.org/officeDocument/2006/relationships/hyperlink" Target="https://github.com/abhi3700" TargetMode="External"/><Relationship Id="rId23" Type="http://schemas.openxmlformats.org/officeDocument/2006/relationships/image" Target="../media/image5.svg"/><Relationship Id="rId28" Type="http://schemas.openxmlformats.org/officeDocument/2006/relationships/image" Target="../media/image10.png"/><Relationship Id="rId10" Type="http://schemas.openxmlformats.org/officeDocument/2006/relationships/hyperlink" Target="https://github.com/MystenLabs/sui/pull/13053" TargetMode="External"/><Relationship Id="rId19" Type="http://schemas.openxmlformats.org/officeDocument/2006/relationships/hyperlink" Target="https://www.linkedin.com/in/abhi3700/" TargetMode="External"/><Relationship Id="rId31" Type="http://schemas.openxmlformats.org/officeDocument/2006/relationships/image" Target="../media/image13.svg"/><Relationship Id="rId4" Type="http://schemas.openxmlformats.org/officeDocument/2006/relationships/hyperlink" Target="https://github.com/Uniswap/v2-core/pull/163" TargetMode="External"/><Relationship Id="rId9" Type="http://schemas.openxmlformats.org/officeDocument/2006/relationships/hyperlink" Target="https://github.com/rust-lang/rustlings/pull/1472" TargetMode="External"/><Relationship Id="rId14" Type="http://schemas.microsoft.com/office/2007/relationships/hdphoto" Target="../media/hdphoto1.wdp"/><Relationship Id="rId22" Type="http://schemas.openxmlformats.org/officeDocument/2006/relationships/image" Target="../media/image4.png"/><Relationship Id="rId27" Type="http://schemas.openxmlformats.org/officeDocument/2006/relationships/image" Target="../media/image9.svg"/><Relationship Id="rId30" Type="http://schemas.openxmlformats.org/officeDocument/2006/relationships/image" Target="../media/image12.png"/><Relationship Id="rId8" Type="http://schemas.openxmlformats.org/officeDocument/2006/relationships/hyperlink" Target="https://github.com/paritytech/ink/pull/1583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TextBox 1062">
            <a:extLst>
              <a:ext uri="{FF2B5EF4-FFF2-40B4-BE49-F238E27FC236}">
                <a16:creationId xmlns:a16="http://schemas.microsoft.com/office/drawing/2014/main" id="{985A1980-4857-1BC7-C799-0558CD575D81}"/>
              </a:ext>
            </a:extLst>
          </p:cNvPr>
          <p:cNvSpPr txBox="1"/>
          <p:nvPr/>
        </p:nvSpPr>
        <p:spPr>
          <a:xfrm>
            <a:off x="88190" y="2340109"/>
            <a:ext cx="6666468" cy="1267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Contributed to Opensource projects: Subspace, </a:t>
            </a:r>
            <a:r>
              <a:rPr lang="en-IN" sz="88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LayerZero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STARK Winterfell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Uniswap v2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OpenZeppelin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Telos Blockchain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STFX (Perpetual),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Substrate Runtime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&amp;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 ink lang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Rustlings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IN" sz="88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Polygon's native stablecoin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(DeFi) using a multi-collateral CDP approach, incentivized staking to prevent liquidation, informed by research into </a:t>
            </a:r>
            <a:r>
              <a:rPr lang="en-IN" sz="88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MakerDAO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Liquity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Yeti Finance.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Bagged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IN" sz="880" u="sng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nd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rank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SNI Hack 2021 competition as EOSIO Blockchain Developer (also Presenter) for a project “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Ceven.Parks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the architecture of </a:t>
            </a:r>
            <a:r>
              <a:rPr lang="en-IN" sz="88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GameFi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project – “</a:t>
            </a:r>
            <a:r>
              <a:rPr lang="en-IN" sz="88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Bowled.io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with play-to-earn Game-Fi intent using different types of cards as NFT categories.</a:t>
            </a:r>
          </a:p>
          <a:p>
            <a:pPr marL="171450" marR="0" lvl="0" indent="-171450">
              <a:lnSpc>
                <a:spcPts val="1138"/>
              </a:lnSpc>
              <a:spcBef>
                <a:spcPts val="0"/>
              </a:spcBef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Represented 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DRIFE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as CTO at WBS in 2018, where it ranked as best start-up in utility tokens category. Later, it received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UNESCO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award for its innovation in 2022.</a:t>
            </a:r>
            <a:endParaRPr lang="en-US" sz="88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1B682F-B20F-544F-5ECD-7934645ECBBB}"/>
              </a:ext>
            </a:extLst>
          </p:cNvPr>
          <p:cNvSpPr/>
          <p:nvPr/>
        </p:nvSpPr>
        <p:spPr>
          <a:xfrm>
            <a:off x="0" y="2"/>
            <a:ext cx="6858000" cy="4300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The Value of Decentralized Knowledge | GetSmarter Blog">
            <a:extLst>
              <a:ext uri="{FF2B5EF4-FFF2-40B4-BE49-F238E27FC236}">
                <a16:creationId xmlns:a16="http://schemas.microsoft.com/office/drawing/2014/main" id="{97185282-1FED-17C4-AD11-D8669A3C92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72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7207" b="47684"/>
          <a:stretch/>
        </p:blipFill>
        <p:spPr bwMode="auto">
          <a:xfrm>
            <a:off x="0" y="-6295"/>
            <a:ext cx="6858000" cy="43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E544968-20DD-7282-C394-6CD0B94EADE8}"/>
              </a:ext>
            </a:extLst>
          </p:cNvPr>
          <p:cNvSpPr/>
          <p:nvPr/>
        </p:nvSpPr>
        <p:spPr>
          <a:xfrm>
            <a:off x="2721173" y="214124"/>
            <a:ext cx="1424188" cy="295305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  <a:bevelB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Abhijit Roy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D76ABF-3EF5-AA43-AD43-049740CEFF94}"/>
              </a:ext>
            </a:extLst>
          </p:cNvPr>
          <p:cNvCxnSpPr>
            <a:cxnSpLocks/>
          </p:cNvCxnSpPr>
          <p:nvPr/>
        </p:nvCxnSpPr>
        <p:spPr>
          <a:xfrm>
            <a:off x="400309" y="798033"/>
            <a:ext cx="598727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2850A5-91B6-1C51-DCE0-B1639E43D7F1}"/>
              </a:ext>
            </a:extLst>
          </p:cNvPr>
          <p:cNvSpPr txBox="1"/>
          <p:nvPr/>
        </p:nvSpPr>
        <p:spPr>
          <a:xfrm>
            <a:off x="400309" y="539505"/>
            <a:ext cx="8934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Kolkata, India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0C9704-FD85-6685-AFD0-E5D4EE58406E}"/>
              </a:ext>
            </a:extLst>
          </p:cNvPr>
          <p:cNvCxnSpPr>
            <a:cxnSpLocks/>
          </p:cNvCxnSpPr>
          <p:nvPr/>
        </p:nvCxnSpPr>
        <p:spPr>
          <a:xfrm>
            <a:off x="1267605" y="539505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E5620F-C0FF-7780-11BB-974C3805FE09}"/>
              </a:ext>
            </a:extLst>
          </p:cNvPr>
          <p:cNvSpPr txBox="1"/>
          <p:nvPr/>
        </p:nvSpPr>
        <p:spPr>
          <a:xfrm>
            <a:off x="1232483" y="541332"/>
            <a:ext cx="110986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+91-9474501583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E56634-E32B-37F4-7135-73CFFF991826}"/>
              </a:ext>
            </a:extLst>
          </p:cNvPr>
          <p:cNvCxnSpPr>
            <a:cxnSpLocks/>
          </p:cNvCxnSpPr>
          <p:nvPr/>
        </p:nvCxnSpPr>
        <p:spPr>
          <a:xfrm>
            <a:off x="2288131" y="539505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607BBA0-DDCC-23A8-5007-25FD37F9C5C0}"/>
              </a:ext>
            </a:extLst>
          </p:cNvPr>
          <p:cNvSpPr txBox="1"/>
          <p:nvPr/>
        </p:nvSpPr>
        <p:spPr>
          <a:xfrm>
            <a:off x="2258566" y="546893"/>
            <a:ext cx="1494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dalvath3700@gmail.com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B93B79-EDEC-2A97-5974-FC495BA13795}"/>
              </a:ext>
            </a:extLst>
          </p:cNvPr>
          <p:cNvCxnSpPr>
            <a:cxnSpLocks/>
          </p:cNvCxnSpPr>
          <p:nvPr/>
        </p:nvCxnSpPr>
        <p:spPr>
          <a:xfrm>
            <a:off x="3705504" y="546892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6A524D-3110-D3A3-4BF2-42F0DFC36F92}"/>
              </a:ext>
            </a:extLst>
          </p:cNvPr>
          <p:cNvCxnSpPr>
            <a:cxnSpLocks/>
          </p:cNvCxnSpPr>
          <p:nvPr/>
        </p:nvCxnSpPr>
        <p:spPr>
          <a:xfrm>
            <a:off x="4692922" y="539504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143854A-73C5-B165-FC40-491AF43C46B0}"/>
              </a:ext>
            </a:extLst>
          </p:cNvPr>
          <p:cNvCxnSpPr>
            <a:cxnSpLocks/>
          </p:cNvCxnSpPr>
          <p:nvPr/>
        </p:nvCxnSpPr>
        <p:spPr>
          <a:xfrm>
            <a:off x="4145361" y="546892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ABB63CF-F5B3-E859-72CE-1B6F7AED9295}"/>
              </a:ext>
            </a:extLst>
          </p:cNvPr>
          <p:cNvSpPr txBox="1"/>
          <p:nvPr/>
        </p:nvSpPr>
        <p:spPr>
          <a:xfrm>
            <a:off x="3640753" y="547015"/>
            <a:ext cx="5634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662EE1-1577-41F0-DFF6-686D8615986F}"/>
              </a:ext>
            </a:extLst>
          </p:cNvPr>
          <p:cNvSpPr txBox="1"/>
          <p:nvPr/>
        </p:nvSpPr>
        <p:spPr>
          <a:xfrm>
            <a:off x="4630484" y="541793"/>
            <a:ext cx="6741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4D05C6-81CA-6471-CEC1-D8E0B5E0DC91}"/>
              </a:ext>
            </a:extLst>
          </p:cNvPr>
          <p:cNvCxnSpPr>
            <a:cxnSpLocks/>
          </p:cNvCxnSpPr>
          <p:nvPr/>
        </p:nvCxnSpPr>
        <p:spPr>
          <a:xfrm>
            <a:off x="5813329" y="539504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B19BF8F-6593-73FB-42E4-2758F53B58D0}"/>
              </a:ext>
            </a:extLst>
          </p:cNvPr>
          <p:cNvCxnSpPr>
            <a:cxnSpLocks/>
          </p:cNvCxnSpPr>
          <p:nvPr/>
        </p:nvCxnSpPr>
        <p:spPr>
          <a:xfrm>
            <a:off x="5238529" y="539504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9A12E54-8A09-F8F3-5A58-6A68526E19DB}"/>
              </a:ext>
            </a:extLst>
          </p:cNvPr>
          <p:cNvSpPr txBox="1"/>
          <p:nvPr/>
        </p:nvSpPr>
        <p:spPr>
          <a:xfrm>
            <a:off x="5191572" y="546892"/>
            <a:ext cx="6741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Telegram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EE7AF8-7002-5EA0-C222-029DE6EED377}"/>
              </a:ext>
            </a:extLst>
          </p:cNvPr>
          <p:cNvSpPr txBox="1"/>
          <p:nvPr/>
        </p:nvSpPr>
        <p:spPr>
          <a:xfrm>
            <a:off x="5713448" y="546892"/>
            <a:ext cx="6741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Twitter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44AFF2-DB3C-FB01-FC3B-8925A58BAB9F}"/>
              </a:ext>
            </a:extLst>
          </p:cNvPr>
          <p:cNvSpPr txBox="1"/>
          <p:nvPr/>
        </p:nvSpPr>
        <p:spPr>
          <a:xfrm>
            <a:off x="4080308" y="548856"/>
            <a:ext cx="6741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5417637-84C1-E274-207A-1A1529C667AB}"/>
              </a:ext>
            </a:extLst>
          </p:cNvPr>
          <p:cNvCxnSpPr>
            <a:cxnSpLocks/>
          </p:cNvCxnSpPr>
          <p:nvPr/>
        </p:nvCxnSpPr>
        <p:spPr>
          <a:xfrm>
            <a:off x="4835179" y="856405"/>
            <a:ext cx="7132" cy="12375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5E2C250-88E0-5F7F-EC8C-4675F7B1378C}"/>
              </a:ext>
            </a:extLst>
          </p:cNvPr>
          <p:cNvGrpSpPr/>
          <p:nvPr/>
        </p:nvGrpSpPr>
        <p:grpSpPr>
          <a:xfrm>
            <a:off x="125869" y="803688"/>
            <a:ext cx="925662" cy="276999"/>
            <a:chOff x="433905" y="1621603"/>
            <a:chExt cx="925662" cy="276999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F14F72AB-7242-8B55-9F67-E8DBD3770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33905" y="1683326"/>
              <a:ext cx="138240" cy="13824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3A1E77E-7CAC-F21F-3BF4-22E46D384970}"/>
                </a:ext>
              </a:extLst>
            </p:cNvPr>
            <p:cNvSpPr txBox="1"/>
            <p:nvPr/>
          </p:nvSpPr>
          <p:spPr>
            <a:xfrm>
              <a:off x="546936" y="1621603"/>
              <a:ext cx="812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Profile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AB0CF40-82BF-72A6-974C-C13ADB2A1E95}"/>
              </a:ext>
            </a:extLst>
          </p:cNvPr>
          <p:cNvSpPr txBox="1"/>
          <p:nvPr/>
        </p:nvSpPr>
        <p:spPr>
          <a:xfrm>
            <a:off x="70368" y="1161087"/>
            <a:ext cx="4870359" cy="7928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1116"/>
              </a:lnSpc>
            </a:pP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 am a Senior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Software Engineer specialized in Blockchain technology 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with 10 years of experience as Founder, CTO, </a:t>
            </a:r>
            <a:r>
              <a:rPr lang="en-US" sz="9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HoD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Lead/Senior Blockchain Engineer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multiple Web3 startups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projects in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Smart contract, Protocol, Backend, Frontend in 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DeFi, NFT, Gaming, </a:t>
            </a:r>
            <a:r>
              <a:rPr lang="en-US" sz="9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DePIN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etc. I hold development experience in multipl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protocols like EVM, EOSIO, Substrate, Solana; contributed in many open-source projects as well.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C46C0B2-29CD-8DA9-4016-C43C82FE436F}"/>
              </a:ext>
            </a:extLst>
          </p:cNvPr>
          <p:cNvCxnSpPr>
            <a:cxnSpLocks/>
          </p:cNvCxnSpPr>
          <p:nvPr/>
        </p:nvCxnSpPr>
        <p:spPr>
          <a:xfrm>
            <a:off x="0" y="2093910"/>
            <a:ext cx="686482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FA6FBB63-E378-C966-7F5B-1314F98FA2EF}"/>
              </a:ext>
            </a:extLst>
          </p:cNvPr>
          <p:cNvGrpSpPr/>
          <p:nvPr/>
        </p:nvGrpSpPr>
        <p:grpSpPr>
          <a:xfrm>
            <a:off x="4911596" y="1105831"/>
            <a:ext cx="1091741" cy="276999"/>
            <a:chOff x="5205740" y="1134652"/>
            <a:chExt cx="1091741" cy="276999"/>
          </a:xfrm>
        </p:grpSpPr>
        <p:pic>
          <p:nvPicPr>
            <p:cNvPr id="6" name="Graphic 5" descr="Graduation cap with solid fill">
              <a:extLst>
                <a:ext uri="{FF2B5EF4-FFF2-40B4-BE49-F238E27FC236}">
                  <a16:creationId xmlns:a16="http://schemas.microsoft.com/office/drawing/2014/main" id="{C488CD68-901B-27C4-FDB1-BA6179528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205740" y="1160117"/>
              <a:ext cx="229392" cy="22939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F6E378-B571-A7D4-C037-51CABF536F7C}"/>
                </a:ext>
              </a:extLst>
            </p:cNvPr>
            <p:cNvSpPr txBox="1"/>
            <p:nvPr/>
          </p:nvSpPr>
          <p:spPr>
            <a:xfrm>
              <a:off x="5371920" y="1134652"/>
              <a:ext cx="925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Education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3F2B599-B2AD-2CE3-8D39-1FBECB249497}"/>
              </a:ext>
            </a:extLst>
          </p:cNvPr>
          <p:cNvSpPr txBox="1"/>
          <p:nvPr/>
        </p:nvSpPr>
        <p:spPr>
          <a:xfrm>
            <a:off x="4861043" y="1303116"/>
            <a:ext cx="1666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2014</a:t>
            </a:r>
            <a:r>
              <a:rPr lang="en-US" sz="900" dirty="0"/>
              <a:t> – B.Tech in Avionics, </a:t>
            </a:r>
            <a:r>
              <a:rPr lang="en-US" sz="900" b="1" dirty="0"/>
              <a:t>IIST</a:t>
            </a:r>
            <a:r>
              <a:rPr lang="en-US" sz="900" dirty="0"/>
              <a:t>, Trivandrum</a:t>
            </a:r>
          </a:p>
        </p:txBody>
      </p:sp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B06C69AA-0D57-7D42-D24C-DEC36F246D73}"/>
              </a:ext>
            </a:extLst>
          </p:cNvPr>
          <p:cNvGrpSpPr/>
          <p:nvPr/>
        </p:nvGrpSpPr>
        <p:grpSpPr>
          <a:xfrm>
            <a:off x="4897051" y="835989"/>
            <a:ext cx="1219906" cy="276999"/>
            <a:chOff x="5209870" y="854650"/>
            <a:chExt cx="1219906" cy="276999"/>
          </a:xfrm>
        </p:grpSpPr>
        <p:pic>
          <p:nvPicPr>
            <p:cNvPr id="5" name="Graphic 4" descr="Ui Ux with solid fill">
              <a:extLst>
                <a:ext uri="{FF2B5EF4-FFF2-40B4-BE49-F238E27FC236}">
                  <a16:creationId xmlns:a16="http://schemas.microsoft.com/office/drawing/2014/main" id="{E437736C-46A1-E470-9CC3-CEA5A7AB5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209870" y="898165"/>
              <a:ext cx="203342" cy="20334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53D567B-E384-5DA7-5725-E4407708DC2E}"/>
                </a:ext>
              </a:extLst>
            </p:cNvPr>
            <p:cNvSpPr txBox="1"/>
            <p:nvPr/>
          </p:nvSpPr>
          <p:spPr>
            <a:xfrm>
              <a:off x="5372346" y="854650"/>
              <a:ext cx="10574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Experience</a:t>
              </a:r>
              <a:endParaRPr lang="en-US" sz="1400" b="1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F3C2EA2-D8B8-FE37-2FFC-602AB1F4DCDB}"/>
              </a:ext>
            </a:extLst>
          </p:cNvPr>
          <p:cNvSpPr txBox="1"/>
          <p:nvPr/>
        </p:nvSpPr>
        <p:spPr>
          <a:xfrm>
            <a:off x="6256867" y="860411"/>
            <a:ext cx="6037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10 </a:t>
            </a:r>
            <a:r>
              <a:rPr lang="en-US" sz="900" dirty="0"/>
              <a:t>years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48F727-CD5C-338A-BF85-FCF3C80C2D40}"/>
              </a:ext>
            </a:extLst>
          </p:cNvPr>
          <p:cNvCxnSpPr>
            <a:cxnSpLocks/>
          </p:cNvCxnSpPr>
          <p:nvPr/>
        </p:nvCxnSpPr>
        <p:spPr>
          <a:xfrm flipV="1">
            <a:off x="4837174" y="1105831"/>
            <a:ext cx="2020826" cy="153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C853C7AD-5BBD-528E-3F83-BB8D785A809B}"/>
              </a:ext>
            </a:extLst>
          </p:cNvPr>
          <p:cNvGrpSpPr/>
          <p:nvPr/>
        </p:nvGrpSpPr>
        <p:grpSpPr>
          <a:xfrm>
            <a:off x="126723" y="3612509"/>
            <a:ext cx="1502200" cy="292388"/>
            <a:chOff x="4141297" y="2671400"/>
            <a:chExt cx="1502200" cy="292388"/>
          </a:xfrm>
        </p:grpSpPr>
        <p:pic>
          <p:nvPicPr>
            <p:cNvPr id="1039" name="Graphic 1038">
              <a:extLst>
                <a:ext uri="{FF2B5EF4-FFF2-40B4-BE49-F238E27FC236}">
                  <a16:creationId xmlns:a16="http://schemas.microsoft.com/office/drawing/2014/main" id="{A5078535-166A-A2B0-1746-0A235F2F2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4141297" y="2718996"/>
              <a:ext cx="151949" cy="151949"/>
            </a:xfrm>
            <a:prstGeom prst="rect">
              <a:avLst/>
            </a:prstGeom>
          </p:spPr>
        </p:pic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047282EB-86BB-1006-6293-B8A30D4A6E0D}"/>
                </a:ext>
              </a:extLst>
            </p:cNvPr>
            <p:cNvSpPr txBox="1"/>
            <p:nvPr/>
          </p:nvSpPr>
          <p:spPr>
            <a:xfrm>
              <a:off x="4214946" y="2671400"/>
              <a:ext cx="142855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/>
                <a:t>Career Timeline</a:t>
              </a:r>
            </a:p>
          </p:txBody>
        </p:sp>
      </p:grpSp>
      <p:sp>
        <p:nvSpPr>
          <p:cNvPr id="1058" name="TextBox 1057">
            <a:extLst>
              <a:ext uri="{FF2B5EF4-FFF2-40B4-BE49-F238E27FC236}">
                <a16:creationId xmlns:a16="http://schemas.microsoft.com/office/drawing/2014/main" id="{5C25085D-99FF-EF22-40A5-79C0AB40BA06}"/>
              </a:ext>
            </a:extLst>
          </p:cNvPr>
          <p:cNvSpPr txBox="1"/>
          <p:nvPr/>
        </p:nvSpPr>
        <p:spPr>
          <a:xfrm>
            <a:off x="88190" y="8332663"/>
            <a:ext cx="6657120" cy="153663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Nov 2022 – Jun 2023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Head of Blockchain Department @ Rapid Innovation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R&amp;D on ZKP algorithms, Project lead for building ZKP module with </a:t>
            </a:r>
            <a:r>
              <a:rPr lang="en-IN" sz="9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zkSNARK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Fuel Blockchain using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Circom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Rust, Cairo (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zkSTARK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R&amp;D on Cross-chain messaging protocols like Substrate XCMP,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Axelar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GMP to enable a web3 project support multi-chain.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Have worked on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DeFi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auto-compounding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vault based on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Tetu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protocol using Foundry with contracts &amp; scripts written using Solidity.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Engineering Architect for NFT marketplace projects like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Xstrela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VTR Connect, TGE projects like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Orasis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with extensive research on custom wallet development.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Audited the Projects’ Solidity &amp; Rust codebase for security vulnerabilities, code optimization, testing, documentation.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Collaborated on the </a:t>
            </a:r>
            <a:r>
              <a:rPr lang="en-IN" sz="900" b="0" i="0" dirty="0" err="1">
                <a:solidFill>
                  <a:srgbClr val="374151"/>
                </a:solidFill>
                <a:effectLst/>
                <a:latin typeface="Söhne"/>
              </a:rPr>
              <a:t>Xstrela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 project, building scalable, thread-safe APIs using the </a:t>
            </a:r>
            <a:r>
              <a:rPr lang="en-IN" sz="900" b="0" i="0" u="sng" dirty="0" err="1">
                <a:solidFill>
                  <a:srgbClr val="374151"/>
                </a:solidFill>
                <a:effectLst/>
                <a:latin typeface="Söhne"/>
              </a:rPr>
              <a:t>Actix</a:t>
            </a:r>
            <a:r>
              <a:rPr lang="en-IN" sz="900" b="0" i="0" u="sng" dirty="0">
                <a:solidFill>
                  <a:srgbClr val="374151"/>
                </a:solidFill>
                <a:effectLst/>
                <a:latin typeface="Söhne"/>
              </a:rPr>
              <a:t>-web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 framework in Rust.</a:t>
            </a:r>
            <a:endParaRPr lang="en-IN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Upgrade the foundation stone for the blockchain department considering latest evolution in terms of SC security &amp; Gas optimization techniques, Use of 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Foundry tool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Fuzz testing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Periodic leadership on the project estimation on RFP received from several major clients.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836B448D-FC2E-09CE-3F28-8ED995FFD772}"/>
              </a:ext>
            </a:extLst>
          </p:cNvPr>
          <p:cNvSpPr txBox="1"/>
          <p:nvPr/>
        </p:nvSpPr>
        <p:spPr>
          <a:xfrm>
            <a:off x="88190" y="6035598"/>
            <a:ext cx="6657120" cy="1395575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Oct 2023 – Jul 2024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Solidity Engineer @ Subspace Labs (now Autonomys) | Full-time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Load testing of Subspace's EVM domain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Async Rust &amp; different Solidity contracts having low to high gas-consuming functions for sending transactions on-chain with custom load value; created Solidity repository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monorepo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community.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native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cross-chain bridge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based on custom LZ contracts between Subspace's EVM and other EVM chains using Solidity &amp; TypeScript; also, extensive Foundry unit &amp; integration testing done; found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 vulnerability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&amp; raised a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bug bounty report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Did some work on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ZK-based Identity solution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native product using TypeScript &amp; Solidity.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ETA Prediction of probabilistic farming reward for a Subspace farmer; released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 GTK4 FE component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Space Acres in Rust.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Plagiarism detection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on text embeddings via LSH random projection with Python &amp; Rust.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Worked on SDK development featuring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PKI-based identity for </a:t>
            </a:r>
            <a:r>
              <a:rPr lang="en-US" sz="9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Autonomys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 Built a community telegram bot using Rust.</a:t>
            </a:r>
          </a:p>
        </p:txBody>
      </p: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851142D0-0690-0115-8D40-10A319BDEB00}"/>
              </a:ext>
            </a:extLst>
          </p:cNvPr>
          <p:cNvGrpSpPr/>
          <p:nvPr/>
        </p:nvGrpSpPr>
        <p:grpSpPr>
          <a:xfrm>
            <a:off x="103342" y="2099529"/>
            <a:ext cx="2552737" cy="292388"/>
            <a:chOff x="183939" y="4975856"/>
            <a:chExt cx="2552737" cy="292388"/>
          </a:xfrm>
        </p:grpSpPr>
        <p:pic>
          <p:nvPicPr>
            <p:cNvPr id="1061" name="Graphic 1060" descr="Ribbon with solid fill">
              <a:extLst>
                <a:ext uri="{FF2B5EF4-FFF2-40B4-BE49-F238E27FC236}">
                  <a16:creationId xmlns:a16="http://schemas.microsoft.com/office/drawing/2014/main" id="{2FAC8F9C-3116-115B-D206-678E9C5B9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83939" y="5017505"/>
              <a:ext cx="213655" cy="213655"/>
            </a:xfrm>
            <a:prstGeom prst="rect">
              <a:avLst/>
            </a:prstGeom>
          </p:spPr>
        </p:pic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A89D5A0A-90FA-65A0-8961-DDA37F4F2508}"/>
                </a:ext>
              </a:extLst>
            </p:cNvPr>
            <p:cNvSpPr txBox="1"/>
            <p:nvPr/>
          </p:nvSpPr>
          <p:spPr>
            <a:xfrm>
              <a:off x="340378" y="4975856"/>
              <a:ext cx="239629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b="1" dirty="0"/>
                <a:t>Achievements</a:t>
              </a:r>
            </a:p>
          </p:txBody>
        </p:sp>
      </p:grpSp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0D638C51-EFB7-BFE6-08FB-939D349338F7}"/>
              </a:ext>
            </a:extLst>
          </p:cNvPr>
          <p:cNvCxnSpPr>
            <a:cxnSpLocks/>
          </p:cNvCxnSpPr>
          <p:nvPr/>
        </p:nvCxnSpPr>
        <p:spPr>
          <a:xfrm flipV="1">
            <a:off x="4843997" y="1648384"/>
            <a:ext cx="2020826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0" name="Graphic 1069" descr="Programmer male with solid fill">
            <a:extLst>
              <a:ext uri="{FF2B5EF4-FFF2-40B4-BE49-F238E27FC236}">
                <a16:creationId xmlns:a16="http://schemas.microsoft.com/office/drawing/2014/main" id="{B54478DF-3F9A-0287-F8D6-5B4A106AEB3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963319" y="1678120"/>
            <a:ext cx="172388" cy="172388"/>
          </a:xfrm>
          <a:prstGeom prst="rect">
            <a:avLst/>
          </a:prstGeom>
        </p:spPr>
      </p:pic>
      <p:sp>
        <p:nvSpPr>
          <p:cNvPr id="1071" name="TextBox 1070">
            <a:extLst>
              <a:ext uri="{FF2B5EF4-FFF2-40B4-BE49-F238E27FC236}">
                <a16:creationId xmlns:a16="http://schemas.microsoft.com/office/drawing/2014/main" id="{2C3D98A7-4765-3A78-F886-D81AC4A1467D}"/>
              </a:ext>
            </a:extLst>
          </p:cNvPr>
          <p:cNvSpPr txBox="1"/>
          <p:nvPr/>
        </p:nvSpPr>
        <p:spPr>
          <a:xfrm>
            <a:off x="5068143" y="1639489"/>
            <a:ext cx="154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Coding Languages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6EBE36BA-081A-D044-5C1A-FDBC1A2D80B8}"/>
              </a:ext>
            </a:extLst>
          </p:cNvPr>
          <p:cNvSpPr txBox="1"/>
          <p:nvPr/>
        </p:nvSpPr>
        <p:spPr>
          <a:xfrm>
            <a:off x="4826952" y="1854540"/>
            <a:ext cx="2069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Rust, Solidity, TypeScript, Python, C++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5E30A7-65DA-A547-03D7-66481467D28F}"/>
              </a:ext>
            </a:extLst>
          </p:cNvPr>
          <p:cNvSpPr txBox="1"/>
          <p:nvPr/>
        </p:nvSpPr>
        <p:spPr>
          <a:xfrm>
            <a:off x="88190" y="7464894"/>
            <a:ext cx="6657120" cy="831318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 – Sep 2023 | Independent Projects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Designed and released a guided project on Coursera: </a:t>
            </a:r>
            <a:r>
              <a:rPr lang="en-IN" sz="900" dirty="0"/>
              <a:t>“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  <a:hlinkClick r:id="rId3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Target proximity game &amp; food delivery proximity app using Rust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”.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Rock-Paper-Scissors game using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hlinkClick r:id="rId3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commit-reveal cryptography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Rust.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Bank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pallet for substrate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chain featuring traditional staking features like fixed, recurring deposits in Rust.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Revealable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Stakeable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Dynamic On-chain NFT for EVM chain; developed concurrent RESTful APIs using Rust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Actix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web framework.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49F38D-F5CF-FC40-3A03-D245CF6595EE}"/>
              </a:ext>
            </a:extLst>
          </p:cNvPr>
          <p:cNvSpPr txBox="1"/>
          <p:nvPr/>
        </p:nvSpPr>
        <p:spPr>
          <a:xfrm>
            <a:off x="87378" y="3902321"/>
            <a:ext cx="6657120" cy="2100575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Aug 2024 – Present | Building UniFi — The Gasless Payment rail for Stablecoins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US" sz="8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Researched &amp; developed a novel highly scalable </a:t>
            </a:r>
            <a:r>
              <a:rPr lang="en-US" sz="84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EVM Gasless Execution Engine</a:t>
            </a:r>
            <a:r>
              <a:rPr lang="en-US" sz="8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lowering on-chain fees by </a:t>
            </a:r>
            <a:r>
              <a:rPr lang="en-US" sz="84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upto</a:t>
            </a:r>
            <a:r>
              <a:rPr lang="en-US" sz="8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↓</a:t>
            </a:r>
            <a:r>
              <a:rPr lang="en-US" sz="84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90%</a:t>
            </a:r>
            <a:r>
              <a:rPr lang="en-US" sz="8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supporting both custodial/self-custodial wallets, keeping assets on L1 with no asset migration, instant finality than L2s. | Rust, Solidity, MongoDB, Redis, Pub-Sub.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Building a permissionless gas </a:t>
            </a:r>
            <a:r>
              <a:rPr lang="en-US" sz="89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relayer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network — “Pulse” (on top of </a:t>
            </a:r>
            <a:r>
              <a:rPr lang="en-US" sz="89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Reth)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routing payments from sequencer to chain|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</a:t>
            </a:r>
            <a:r>
              <a:rPr lang="en-US" sz="89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Falcon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—Autonomous Payment Agent running on top of Signora (self-custodial cloud wallet) &amp; UniFi. |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&amp; deployed a gas-optimized </a:t>
            </a:r>
            <a:r>
              <a:rPr lang="en-US" sz="89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BundlePay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smart contract with Permit2 nonce management, combining on-chain bitmap analysis and off-chain issuance throttling to securely support concurrent, gasless custodial and non-custodial payments | Solidity, Foundry,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IN" sz="86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</a:t>
            </a:r>
            <a:r>
              <a:rPr lang="en-IN" sz="865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Signora</a:t>
            </a:r>
            <a:r>
              <a:rPr lang="en-IN" sz="86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— a secure self-custodial, low-cost cloud HSM-based wallet (zeroization) unlike typical cloud HSMs costing $1000/month |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Docker-based CI/CD pipeline to deploy entire infrastructure seamlessly across ARM and x86 (Intel) environments.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IN" sz="8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scalable API-</a:t>
            </a:r>
            <a:r>
              <a:rPr lang="en-IN" sz="87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aaS</a:t>
            </a:r>
            <a:r>
              <a:rPr lang="en-IN" sz="8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developers to access low-cost gasless payment infra, auth, wallet, ... Released </a:t>
            </a:r>
            <a:r>
              <a:rPr lang="en-IN" sz="870" dirty="0">
                <a:solidFill>
                  <a:schemeClr val="tx1">
                    <a:lumMod val="75000"/>
                    <a:lumOff val="25000"/>
                  </a:schemeClr>
                </a:solidFill>
                <a:hlinkClick r:id="rId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developer-kit</a:t>
            </a:r>
            <a:r>
              <a:rPr lang="en-IN" sz="87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|Axum, Tokio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Designed and developed a modern, high-performance </a:t>
            </a:r>
            <a:r>
              <a:rPr lang="en-IN" sz="89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WASM web app</a:t>
            </a: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with a clean, responsive UI using Tailwind CSS &amp; 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sz="89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Dioxus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custom Auth module with secure OTP generation, 2FA setup, and JWT-based access control |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</a:t>
            </a:r>
            <a:r>
              <a:rPr lang="en-US" sz="89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 Proxy server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(in Axum, ..); native modules — Auth, Payment, Wallet, Support. |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Playing with Halo2-Rust &amp; FHE for Private payment implementation on UniFi | Rust, Solidity.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325E02-6193-A0F5-EAAB-B35CE2E64846}"/>
              </a:ext>
            </a:extLst>
          </p:cNvPr>
          <p:cNvCxnSpPr>
            <a:cxnSpLocks/>
          </p:cNvCxnSpPr>
          <p:nvPr/>
        </p:nvCxnSpPr>
        <p:spPr>
          <a:xfrm>
            <a:off x="11442" y="3575801"/>
            <a:ext cx="688469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76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B45C106C-4F23-0674-382C-D397FC48A694}"/>
              </a:ext>
            </a:extLst>
          </p:cNvPr>
          <p:cNvSpPr txBox="1"/>
          <p:nvPr/>
        </p:nvSpPr>
        <p:spPr>
          <a:xfrm>
            <a:off x="100440" y="7562918"/>
            <a:ext cx="6657120" cy="113909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 2016 – Jan 2018 | Freelancing as Web3 Full-stack Engineer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a full-stack developer, I created an Android App - "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BitInfoCoin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 for web3 space to provide crypto related services like show nearby crypto ATMs, exchanges, crypto price, news feed.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Extensive research into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Steem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blockchain’s Tokenomics model &amp; deep dived into EOS blockchain codebase. Wrote several contracts using C++; also written test scripts; deployment using CLI.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Recognized as a leading technical content creator for the Utopian developer community on the </a:t>
            </a:r>
            <a:r>
              <a:rPr lang="en-IN" sz="900" b="0" i="0" dirty="0" err="1">
                <a:solidFill>
                  <a:srgbClr val="374151"/>
                </a:solidFill>
                <a:effectLst/>
                <a:latin typeface="Söhne"/>
              </a:rPr>
              <a:t>Steem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 Blockchain; also researched their consensus algorithm – ‘Proof of Brain’.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C24169-1928-6CE6-CD90-8C122AB43119}"/>
              </a:ext>
            </a:extLst>
          </p:cNvPr>
          <p:cNvSpPr txBox="1"/>
          <p:nvPr/>
        </p:nvSpPr>
        <p:spPr>
          <a:xfrm>
            <a:off x="100440" y="6592687"/>
            <a:ext cx="6657120" cy="94673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238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Feb 2018 – Dec 2018 | Founding CTO @ DRIFE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</a:p>
          <a:p>
            <a:pPr marL="171450" indent="-171450" algn="l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Developed Ride-sharing smart contracts suite for EOSIO blockchains using C++.</a:t>
            </a:r>
          </a:p>
          <a:p>
            <a:pPr marL="171450" indent="-171450" algn="l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Established an interdisciplinary team for engineering, sales, marketing, and content creation.</a:t>
            </a:r>
          </a:p>
          <a:p>
            <a:pPr marL="171450" indent="-171450" algn="l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Designed &amp; Formulated </a:t>
            </a:r>
            <a:r>
              <a:rPr lang="en-IN" sz="900" dirty="0" err="1">
                <a:solidFill>
                  <a:srgbClr val="374151"/>
                </a:solidFill>
              </a:rPr>
              <a:t>tokenomics</a:t>
            </a:r>
            <a:r>
              <a:rPr lang="en-IN" sz="900" dirty="0">
                <a:solidFill>
                  <a:srgbClr val="374151"/>
                </a:solidFill>
              </a:rPr>
              <a:t> and revenue model for zero-fee rides feasibility.</a:t>
            </a:r>
          </a:p>
          <a:p>
            <a:pPr marL="171450" indent="-171450" algn="l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Authored technical whitepaper outlining governance, economics, and technology pillars &amp; platform architecture and product workflow.</a:t>
            </a:r>
          </a:p>
          <a:p>
            <a:pPr marL="171450" indent="-171450" algn="l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Presented at the WBS event and successfully pitched to ~ 35 investors, resulting in recognition as one of the most innovative projects.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2AF3D6-3043-6DC0-C211-7962F9332716}"/>
              </a:ext>
            </a:extLst>
          </p:cNvPr>
          <p:cNvSpPr txBox="1"/>
          <p:nvPr/>
        </p:nvSpPr>
        <p:spPr>
          <a:xfrm>
            <a:off x="100440" y="5038091"/>
            <a:ext cx="6657120" cy="153663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238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Jan 2019 – Jun 2021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Freelancing as Web3 Full-stack Engineer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Developed on-chain and off-chain NFT projects using ERC721, ERC1155 standards, and NodeJS, Solidity, Hardhat. Automated deployment of Dynamic NFTs to IPFS, </a:t>
            </a:r>
            <a:r>
              <a:rPr lang="en-IN" sz="900" b="0" i="0" dirty="0" err="1">
                <a:solidFill>
                  <a:srgbClr val="374151"/>
                </a:solidFill>
                <a:effectLst/>
                <a:latin typeface="Söhne"/>
              </a:rPr>
              <a:t>Arweave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Worked on diverse EVM smart contract projects related to ERC20 Token’s variants, Vault, Staking, NFT Marketplace, Auction for clients.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Worked on diverse EOSIO smart contract projects - </a:t>
            </a:r>
            <a:r>
              <a:rPr lang="en-IN" sz="9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GPK.Battles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(Betting game with RNG Oracle), Tipping, ICO (single/multi phases), Staking, Vault using C/C++, JavaScript/TypeScript.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Developed three </a:t>
            </a:r>
            <a:r>
              <a:rPr lang="en-IN" sz="900" b="0" i="0" u="sng" dirty="0">
                <a:solidFill>
                  <a:srgbClr val="374151"/>
                </a:solidFill>
                <a:effectLst/>
                <a:latin typeface="Söhne"/>
              </a:rPr>
              <a:t>Telegram Bots 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(Tipping, KYC, Quiz) using EOSIO smart contracts and integrating Heroku Redis databases.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Developed '</a:t>
            </a:r>
            <a:r>
              <a:rPr lang="en-IN" sz="900" b="0" i="0" dirty="0" err="1">
                <a:solidFill>
                  <a:srgbClr val="374151"/>
                </a:solidFill>
                <a:effectLst/>
                <a:latin typeface="Söhne"/>
              </a:rPr>
              <a:t>Autoplot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,' a CLI-based data visualization software leveraged in the </a:t>
            </a:r>
            <a:r>
              <a:rPr lang="en-IN" sz="900" b="0" i="0" u="sng" dirty="0">
                <a:solidFill>
                  <a:srgbClr val="374151"/>
                </a:solidFill>
                <a:effectLst/>
                <a:latin typeface="Söhne"/>
              </a:rPr>
              <a:t>Indian Space Programme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 for comprehensive analytics based on parsed Excel data; using python language.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Worked on numerous data wrangling projects in the semiconductor industry using Python and Rust; developed custom scripts.</a:t>
            </a:r>
            <a:endParaRPr lang="en-IN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4CF250-29E0-2DC4-858D-616F56CFA53B}"/>
              </a:ext>
            </a:extLst>
          </p:cNvPr>
          <p:cNvSpPr txBox="1"/>
          <p:nvPr/>
        </p:nvSpPr>
        <p:spPr>
          <a:xfrm>
            <a:off x="100440" y="4040787"/>
            <a:ext cx="6657120" cy="972382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Jul 2021 – Sep 2021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Lead Blockchain Developer @ Boot Finance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Conducted extensive research on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Uniswap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Curve, and Saddle to write smart contracts for a DEX, utilizing native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CustomSwap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AMM and liaised with a Quant researcher. 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Developed robust test cases with Hardhat Typescript for the smart contracts – DEX, Vesting, Token.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Leveraged data wrangling techniques to categorize and modify user token allocations within </a:t>
            </a:r>
            <a:r>
              <a:rPr lang="en-IN" sz="900" b="0" i="0" dirty="0" err="1">
                <a:solidFill>
                  <a:srgbClr val="374151"/>
                </a:solidFill>
                <a:effectLst/>
                <a:latin typeface="Söhne"/>
              </a:rPr>
              <a:t>GSheets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; wrote API scripts for file upload.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Explored the </a:t>
            </a:r>
            <a:r>
              <a:rPr lang="en-US" sz="900" dirty="0" err="1">
                <a:solidFill>
                  <a:srgbClr val="374151"/>
                </a:solidFill>
              </a:rPr>
              <a:t>Aave</a:t>
            </a:r>
            <a:r>
              <a:rPr lang="en-US" sz="900" dirty="0">
                <a:solidFill>
                  <a:srgbClr val="374151"/>
                </a:solidFill>
              </a:rPr>
              <a:t> protocol in order to add lending/borrowing feature on top of the platform.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69BA6A-C548-CE2C-70D6-EEBD51FF5104}"/>
              </a:ext>
            </a:extLst>
          </p:cNvPr>
          <p:cNvSpPr txBox="1"/>
          <p:nvPr/>
        </p:nvSpPr>
        <p:spPr>
          <a:xfrm>
            <a:off x="100440" y="3184032"/>
            <a:ext cx="6657120" cy="831318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Nov 2021 – Mar 2022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Senior Blockchain Engineer @ Master Ventures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Part-time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Collaborated on translating an EVM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crowdsale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smart contract from Solidity to Solana using Rust language; also documented.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Played a key role in the launch of the native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Polkadot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parachain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'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Paidchain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,' leveraging </a:t>
            </a:r>
            <a:r>
              <a:rPr lang="en-IN" sz="900" b="0" i="0" u="sng" dirty="0">
                <a:solidFill>
                  <a:srgbClr val="374151"/>
                </a:solidFill>
                <a:effectLst/>
              </a:rPr>
              <a:t>Substrate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</a:t>
            </a:r>
            <a:r>
              <a:rPr lang="en-IN" sz="900" b="0" i="0" u="sng" dirty="0">
                <a:solidFill>
                  <a:srgbClr val="374151"/>
                </a:solidFill>
                <a:effectLst/>
              </a:rPr>
              <a:t>Cumulus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repositories, and CLI tools for network launch.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Evaluated </a:t>
            </a:r>
            <a:r>
              <a:rPr lang="en-IN" sz="900" dirty="0" err="1">
                <a:solidFill>
                  <a:srgbClr val="374151"/>
                </a:solidFill>
              </a:rPr>
              <a:t>Paidchain</a:t>
            </a:r>
            <a:r>
              <a:rPr lang="en-IN" sz="900" dirty="0">
                <a:solidFill>
                  <a:srgbClr val="374151"/>
                </a:solidFill>
              </a:rPr>
              <a:t> deployment by executing a sample EVM smart contract development lifecycle via Hardhat; also documented.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DAF098-062D-4904-6090-6479353738B2}"/>
              </a:ext>
            </a:extLst>
          </p:cNvPr>
          <p:cNvSpPr txBox="1"/>
          <p:nvPr/>
        </p:nvSpPr>
        <p:spPr>
          <a:xfrm>
            <a:off x="100440" y="8730296"/>
            <a:ext cx="6657120" cy="703078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 2014 – Sep 2016 | Scientist/Engineer @ ISRO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Worked in field of "Dry Etching" in 8-inch foundry for fabrication of CMOS, ASIC devices.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a command-line interface (CLI) application in Python for automated analysis of large-scale data (QC, production) collected from foundry machines.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B16A10-E89C-D995-77E7-6401F71FE9C1}"/>
              </a:ext>
            </a:extLst>
          </p:cNvPr>
          <p:cNvSpPr txBox="1"/>
          <p:nvPr/>
        </p:nvSpPr>
        <p:spPr>
          <a:xfrm>
            <a:off x="100440" y="1770513"/>
            <a:ext cx="6657120" cy="1395575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 2021 – May 2022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CTO @ Theia Finance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Part-time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Architected a modular, upgradeable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DeFi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platform and smart contract system leveraging </a:t>
            </a:r>
            <a:r>
              <a:rPr lang="en-IN" sz="900" b="0" i="0" u="sng" dirty="0">
                <a:solidFill>
                  <a:srgbClr val="374151"/>
                </a:solidFill>
                <a:effectLst/>
              </a:rPr>
              <a:t>ERC-2535 Diamond Standard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. Also crafted a DAO-governed crowdfunding platform based on bonding curves; also featured an option of collective formation by top investors.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Drove product iterations and custom token faucet trials, boosting Discord community from </a:t>
            </a:r>
            <a:r>
              <a:rPr lang="en-IN" sz="900" b="0" i="0" u="sng" dirty="0">
                <a:solidFill>
                  <a:srgbClr val="374151"/>
                </a:solidFill>
                <a:effectLst/>
              </a:rPr>
              <a:t>300 to 30k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while managing database scalability for concurrent usage.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Engaged in product design deliberations, whitepaper composition, and provided extensive hands-on guidance for full-stack and blockchain development to the team.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Researched </a:t>
            </a:r>
            <a:r>
              <a:rPr lang="en-IN" sz="900" b="0" i="0" u="sng" dirty="0">
                <a:solidFill>
                  <a:srgbClr val="374151"/>
                </a:solidFill>
                <a:effectLst/>
              </a:rPr>
              <a:t>cross-chain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capabilities via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Layerzero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and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Axelar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projects, including engaging in technical discourse on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Axelar's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features.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Collaboratively wrote and audited solidity smart contracts, enhancing security, optimizing gas use, and minimizing contract size.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4BC5C-0C4E-8A8B-3273-A8D5FD602CB3}"/>
              </a:ext>
            </a:extLst>
          </p:cNvPr>
          <p:cNvSpPr txBox="1"/>
          <p:nvPr/>
        </p:nvSpPr>
        <p:spPr>
          <a:xfrm>
            <a:off x="96736" y="303271"/>
            <a:ext cx="6657120" cy="1446871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May 2022 – Oct 2022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Senior Smart Contract Backend Engineer @ Upside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Collaborated with auditors from </a:t>
            </a:r>
            <a:r>
              <a:rPr lang="en-IN" sz="900" b="0" i="0" u="sng" dirty="0" err="1">
                <a:solidFill>
                  <a:srgbClr val="374151"/>
                </a:solidFill>
                <a:effectLst/>
              </a:rPr>
              <a:t>Quantstamp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Certik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Omniscia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on Token, Vesting, Staking Solidity smart contracts for clients including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Metacraft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Delysium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and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Zedrun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etc.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Designed AMM &amp; Developed smart contracts for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DeFi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DEX - “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Bioform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with MIT using their free-energy based parametrized model. 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While writing smart contracts, I ensured testing, deployment scripts, flattening, verification, fuzzy-testing, gas optimization (using Yul, Solidity), contract-size optimization of smart contracts using Truffle, Hardhat, 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Foundry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tools before deploying to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mainnet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testnet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Co-developed and led 'Zippy' TGE tool project, crafting architecture with whitepaper, built REST APIs with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NextJS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and conducting API tests via data mocking and integrated Swagger UI; also managed Firebase's NoSQL &amp; SQL databases. 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Proficient in React and Redux.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Implemented CI/CD via GitHub Actions and Docker for automated testing and repository packaging, respectively.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445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3407</TotalTime>
  <Words>1928</Words>
  <Application>Microsoft Macintosh PowerPoint</Application>
  <PresentationFormat>A4 Paper (210x297 mm)</PresentationFormat>
  <Paragraphs>99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Söhne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abhijit roy</dc:creator>
  <cp:lastModifiedBy>Abhijit Roy</cp:lastModifiedBy>
  <cp:revision>755</cp:revision>
  <dcterms:created xsi:type="dcterms:W3CDTF">2022-10-06T16:05:05Z</dcterms:created>
  <dcterms:modified xsi:type="dcterms:W3CDTF">2026-04-13T08:42:55Z</dcterms:modified>
</cp:coreProperties>
</file>