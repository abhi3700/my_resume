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"/>
  </p:notesMasterIdLst>
  <p:sldIdLst>
    <p:sldId id="256" r:id="rId2"/>
    <p:sldId id="257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2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89"/>
    <p:restoredTop sz="95707"/>
  </p:normalViewPr>
  <p:slideViewPr>
    <p:cSldViewPr snapToGrid="0">
      <p:cViewPr>
        <p:scale>
          <a:sx n="142" d="100"/>
          <a:sy n="142" d="100"/>
        </p:scale>
        <p:origin x="856" y="-2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BEAD1-672E-E841-95FA-08B9B35A46D7}" type="datetimeFigureOut">
              <a:rPr lang="en-US" smtClean="0"/>
              <a:t>8/19/25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597C0-0EAD-2246-B07D-EA9B7519C8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21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76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35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2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11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429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861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80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89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8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404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61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96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0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17C049-F611-094D-8104-5764D8D04213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310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aritytech/ink/pull/1583" TargetMode="External"/><Relationship Id="rId13" Type="http://schemas.openxmlformats.org/officeDocument/2006/relationships/image" Target="../media/image1.png"/><Relationship Id="rId18" Type="http://schemas.openxmlformats.org/officeDocument/2006/relationships/hyperlink" Target="https://twitter.com/abhi3700" TargetMode="External"/><Relationship Id="rId26" Type="http://schemas.openxmlformats.org/officeDocument/2006/relationships/image" Target="../media/image8.png"/><Relationship Id="rId3" Type="http://schemas.openxmlformats.org/officeDocument/2006/relationships/hyperlink" Target="https://github.com/facebook/winterfell/pull/210" TargetMode="External"/><Relationship Id="rId21" Type="http://schemas.openxmlformats.org/officeDocument/2006/relationships/image" Target="../media/image3.svg"/><Relationship Id="rId7" Type="http://schemas.openxmlformats.org/officeDocument/2006/relationships/hyperlink" Target="ttps://github.com/paritytech/substrate/pull/14348" TargetMode="External"/><Relationship Id="rId12" Type="http://schemas.openxmlformats.org/officeDocument/2006/relationships/hyperlink" Target="https://www.drife.io/" TargetMode="External"/><Relationship Id="rId17" Type="http://schemas.openxmlformats.org/officeDocument/2006/relationships/hyperlink" Target="https://t.me/abhi3700" TargetMode="External"/><Relationship Id="rId25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6" Type="http://schemas.openxmlformats.org/officeDocument/2006/relationships/hyperlink" Target="http://abhi3700.medium.com/" TargetMode="External"/><Relationship Id="rId20" Type="http://schemas.openxmlformats.org/officeDocument/2006/relationships/image" Target="../media/image2.png"/><Relationship Id="rId29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telos.net/validator-nodes/setting-up-telos-validator-nodes#what-is-the-role-of-a-telos-validator" TargetMode="External"/><Relationship Id="rId11" Type="http://schemas.openxmlformats.org/officeDocument/2006/relationships/hyperlink" Target="https://github.com/abhi3700/eosio_cevenparks_contracts/tree/main/cevenparksio" TargetMode="External"/><Relationship Id="rId24" Type="http://schemas.openxmlformats.org/officeDocument/2006/relationships/image" Target="../media/image6.png"/><Relationship Id="rId32" Type="http://schemas.openxmlformats.org/officeDocument/2006/relationships/hyperlink" Target="https://www.linkedin.com/pulse/rock-paper-scissors-game-rust-using-commit-reveal-cryptography-roy/" TargetMode="External"/><Relationship Id="rId5" Type="http://schemas.openxmlformats.org/officeDocument/2006/relationships/hyperlink" Target="https://github.com/OpenZeppelin/openzeppelin-contracts/pull/3515" TargetMode="External"/><Relationship Id="rId15" Type="http://schemas.openxmlformats.org/officeDocument/2006/relationships/hyperlink" Target="https://github.com/abhi3700" TargetMode="External"/><Relationship Id="rId23" Type="http://schemas.openxmlformats.org/officeDocument/2006/relationships/image" Target="../media/image5.svg"/><Relationship Id="rId28" Type="http://schemas.openxmlformats.org/officeDocument/2006/relationships/image" Target="../media/image10.png"/><Relationship Id="rId10" Type="http://schemas.openxmlformats.org/officeDocument/2006/relationships/hyperlink" Target="https://github.com/MystenLabs/sui/pull/13053" TargetMode="External"/><Relationship Id="rId19" Type="http://schemas.openxmlformats.org/officeDocument/2006/relationships/hyperlink" Target="https://www.linkedin.com/in/abhi3700/" TargetMode="External"/><Relationship Id="rId31" Type="http://schemas.openxmlformats.org/officeDocument/2006/relationships/image" Target="../media/image13.svg"/><Relationship Id="rId4" Type="http://schemas.openxmlformats.org/officeDocument/2006/relationships/hyperlink" Target="https://github.com/Uniswap/v2-core/pull/163" TargetMode="External"/><Relationship Id="rId9" Type="http://schemas.openxmlformats.org/officeDocument/2006/relationships/hyperlink" Target="https://github.com/rust-lang/rustlings/pull/1472" TargetMode="External"/><Relationship Id="rId14" Type="http://schemas.microsoft.com/office/2007/relationships/hdphoto" Target="../media/hdphoto1.wdp"/><Relationship Id="rId22" Type="http://schemas.openxmlformats.org/officeDocument/2006/relationships/image" Target="../media/image4.png"/><Relationship Id="rId27" Type="http://schemas.openxmlformats.org/officeDocument/2006/relationships/image" Target="../media/image9.svg"/><Relationship Id="rId30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TextBox 1062">
            <a:extLst>
              <a:ext uri="{FF2B5EF4-FFF2-40B4-BE49-F238E27FC236}">
                <a16:creationId xmlns:a16="http://schemas.microsoft.com/office/drawing/2014/main" id="{985A1980-4857-1BC7-C799-0558CD575D81}"/>
              </a:ext>
            </a:extLst>
          </p:cNvPr>
          <p:cNvSpPr txBox="1"/>
          <p:nvPr/>
        </p:nvSpPr>
        <p:spPr>
          <a:xfrm>
            <a:off x="88190" y="2308676"/>
            <a:ext cx="6666468" cy="1366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Contributed to Opensource projects: Subspace,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LayerZero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STARK Winterfell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Uniswap v2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OpenZeppelin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Telos Blockchain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STFX (Perpetual),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Substrate Runtime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 ink lang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Rustlings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Sui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Polygon's native stablecoin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(DeFi) using a multi-collateral CDP approach, incentivized staking to prevent liquidation, informed by research into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MakerDAO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Liquity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Yeti Finance.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Bagged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en-IN" sz="900" u="sng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nd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rank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SNI Hack 2021 competition as EOSIO Blockchain Developer (also Presenter) for a project “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Ceven.Parks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the architecture of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GameFi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project – “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Bowled.io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play-to-earn Game-Fi intent using different types of cards as NFT categories.</a:t>
            </a:r>
          </a:p>
          <a:p>
            <a:pPr marL="171450" marR="0" lvl="0" indent="-171450">
              <a:lnSpc>
                <a:spcPts val="1238"/>
              </a:lnSpc>
              <a:spcBef>
                <a:spcPts val="0"/>
              </a:spcBef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Represented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DRIFE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as CTO at WBS in 2018, where it ranked as best start-up in utility tokens category. Later, it received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UNESCO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award for its innovation in 2022.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1B682F-B20F-544F-5ECD-7934645ECBBB}"/>
              </a:ext>
            </a:extLst>
          </p:cNvPr>
          <p:cNvSpPr/>
          <p:nvPr/>
        </p:nvSpPr>
        <p:spPr>
          <a:xfrm>
            <a:off x="0" y="2"/>
            <a:ext cx="6858000" cy="4300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The Value of Decentralized Knowledge | GetSmarter Blog">
            <a:extLst>
              <a:ext uri="{FF2B5EF4-FFF2-40B4-BE49-F238E27FC236}">
                <a16:creationId xmlns:a16="http://schemas.microsoft.com/office/drawing/2014/main" id="{97185282-1FED-17C4-AD11-D8669A3C92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colorTemperature colorTemp="72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7207" b="47684"/>
          <a:stretch/>
        </p:blipFill>
        <p:spPr bwMode="auto">
          <a:xfrm>
            <a:off x="0" y="-6295"/>
            <a:ext cx="6858000" cy="43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E544968-20DD-7282-C394-6CD0B94EADE8}"/>
              </a:ext>
            </a:extLst>
          </p:cNvPr>
          <p:cNvSpPr/>
          <p:nvPr/>
        </p:nvSpPr>
        <p:spPr>
          <a:xfrm>
            <a:off x="2721173" y="232785"/>
            <a:ext cx="1424188" cy="295305"/>
          </a:xfrm>
          <a:prstGeom prst="round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  <a:bevelB w="1143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Abhijit Roy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D76ABF-3EF5-AA43-AD43-049740CEFF94}"/>
              </a:ext>
            </a:extLst>
          </p:cNvPr>
          <p:cNvCxnSpPr>
            <a:cxnSpLocks/>
          </p:cNvCxnSpPr>
          <p:nvPr/>
        </p:nvCxnSpPr>
        <p:spPr>
          <a:xfrm>
            <a:off x="400309" y="816694"/>
            <a:ext cx="598727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F2850A5-91B6-1C51-DCE0-B1639E43D7F1}"/>
              </a:ext>
            </a:extLst>
          </p:cNvPr>
          <p:cNvSpPr txBox="1"/>
          <p:nvPr/>
        </p:nvSpPr>
        <p:spPr>
          <a:xfrm>
            <a:off x="400309" y="558166"/>
            <a:ext cx="8934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Kolkata, India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0C9704-FD85-6685-AFD0-E5D4EE58406E}"/>
              </a:ext>
            </a:extLst>
          </p:cNvPr>
          <p:cNvCxnSpPr>
            <a:cxnSpLocks/>
          </p:cNvCxnSpPr>
          <p:nvPr/>
        </p:nvCxnSpPr>
        <p:spPr>
          <a:xfrm>
            <a:off x="1267605" y="558166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E5620F-C0FF-7780-11BB-974C3805FE09}"/>
              </a:ext>
            </a:extLst>
          </p:cNvPr>
          <p:cNvSpPr txBox="1"/>
          <p:nvPr/>
        </p:nvSpPr>
        <p:spPr>
          <a:xfrm>
            <a:off x="1232483" y="559993"/>
            <a:ext cx="1109869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+91-9474501583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3E56634-E32B-37F4-7135-73CFFF991826}"/>
              </a:ext>
            </a:extLst>
          </p:cNvPr>
          <p:cNvCxnSpPr>
            <a:cxnSpLocks/>
          </p:cNvCxnSpPr>
          <p:nvPr/>
        </p:nvCxnSpPr>
        <p:spPr>
          <a:xfrm>
            <a:off x="2288131" y="558166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607BBA0-DDCC-23A8-5007-25FD37F9C5C0}"/>
              </a:ext>
            </a:extLst>
          </p:cNvPr>
          <p:cNvSpPr txBox="1"/>
          <p:nvPr/>
        </p:nvSpPr>
        <p:spPr>
          <a:xfrm>
            <a:off x="2258566" y="565554"/>
            <a:ext cx="14949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dalvath3700@gmail.com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B93B79-EDEC-2A97-5974-FC495BA13795}"/>
              </a:ext>
            </a:extLst>
          </p:cNvPr>
          <p:cNvCxnSpPr>
            <a:cxnSpLocks/>
          </p:cNvCxnSpPr>
          <p:nvPr/>
        </p:nvCxnSpPr>
        <p:spPr>
          <a:xfrm>
            <a:off x="3705504" y="565553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6A524D-3110-D3A3-4BF2-42F0DFC36F92}"/>
              </a:ext>
            </a:extLst>
          </p:cNvPr>
          <p:cNvCxnSpPr>
            <a:cxnSpLocks/>
          </p:cNvCxnSpPr>
          <p:nvPr/>
        </p:nvCxnSpPr>
        <p:spPr>
          <a:xfrm>
            <a:off x="4692922" y="55816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143854A-73C5-B165-FC40-491AF43C46B0}"/>
              </a:ext>
            </a:extLst>
          </p:cNvPr>
          <p:cNvCxnSpPr>
            <a:cxnSpLocks/>
          </p:cNvCxnSpPr>
          <p:nvPr/>
        </p:nvCxnSpPr>
        <p:spPr>
          <a:xfrm>
            <a:off x="4145361" y="565553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ABB63CF-F5B3-E859-72CE-1B6F7AED9295}"/>
              </a:ext>
            </a:extLst>
          </p:cNvPr>
          <p:cNvSpPr txBox="1"/>
          <p:nvPr/>
        </p:nvSpPr>
        <p:spPr>
          <a:xfrm>
            <a:off x="3640753" y="565676"/>
            <a:ext cx="5634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662EE1-1577-41F0-DFF6-686D8615986F}"/>
              </a:ext>
            </a:extLst>
          </p:cNvPr>
          <p:cNvSpPr txBox="1"/>
          <p:nvPr/>
        </p:nvSpPr>
        <p:spPr>
          <a:xfrm>
            <a:off x="4630484" y="560454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F4D05C6-81CA-6471-CEC1-D8E0B5E0DC91}"/>
              </a:ext>
            </a:extLst>
          </p:cNvPr>
          <p:cNvCxnSpPr>
            <a:cxnSpLocks/>
          </p:cNvCxnSpPr>
          <p:nvPr/>
        </p:nvCxnSpPr>
        <p:spPr>
          <a:xfrm>
            <a:off x="5813329" y="55816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B19BF8F-6593-73FB-42E4-2758F53B58D0}"/>
              </a:ext>
            </a:extLst>
          </p:cNvPr>
          <p:cNvCxnSpPr>
            <a:cxnSpLocks/>
          </p:cNvCxnSpPr>
          <p:nvPr/>
        </p:nvCxnSpPr>
        <p:spPr>
          <a:xfrm>
            <a:off x="5238529" y="55816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9A12E54-8A09-F8F3-5A58-6A68526E19DB}"/>
              </a:ext>
            </a:extLst>
          </p:cNvPr>
          <p:cNvSpPr txBox="1"/>
          <p:nvPr/>
        </p:nvSpPr>
        <p:spPr>
          <a:xfrm>
            <a:off x="5191572" y="565553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EE7AF8-7002-5EA0-C222-029DE6EED377}"/>
              </a:ext>
            </a:extLst>
          </p:cNvPr>
          <p:cNvSpPr txBox="1"/>
          <p:nvPr/>
        </p:nvSpPr>
        <p:spPr>
          <a:xfrm>
            <a:off x="5713448" y="565553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44AFF2-DB3C-FB01-FC3B-8925A58BAB9F}"/>
              </a:ext>
            </a:extLst>
          </p:cNvPr>
          <p:cNvSpPr txBox="1"/>
          <p:nvPr/>
        </p:nvSpPr>
        <p:spPr>
          <a:xfrm>
            <a:off x="4080308" y="567517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417637-84C1-E274-207A-1A1529C667AB}"/>
              </a:ext>
            </a:extLst>
          </p:cNvPr>
          <p:cNvCxnSpPr>
            <a:cxnSpLocks/>
          </p:cNvCxnSpPr>
          <p:nvPr/>
        </p:nvCxnSpPr>
        <p:spPr>
          <a:xfrm>
            <a:off x="4835179" y="875066"/>
            <a:ext cx="7132" cy="12375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5E2C250-88E0-5F7F-EC8C-4675F7B1378C}"/>
              </a:ext>
            </a:extLst>
          </p:cNvPr>
          <p:cNvGrpSpPr/>
          <p:nvPr/>
        </p:nvGrpSpPr>
        <p:grpSpPr>
          <a:xfrm>
            <a:off x="125869" y="822349"/>
            <a:ext cx="925662" cy="276999"/>
            <a:chOff x="433905" y="1621603"/>
            <a:chExt cx="925662" cy="276999"/>
          </a:xfrm>
        </p:grpSpPr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F14F72AB-7242-8B55-9F67-E8DBD3770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33905" y="1683326"/>
              <a:ext cx="138240" cy="1382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A1E77E-7CAC-F21F-3BF4-22E46D384970}"/>
                </a:ext>
              </a:extLst>
            </p:cNvPr>
            <p:cNvSpPr txBox="1"/>
            <p:nvPr/>
          </p:nvSpPr>
          <p:spPr>
            <a:xfrm>
              <a:off x="546936" y="1621603"/>
              <a:ext cx="8126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Profile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AB0CF40-82BF-72A6-974C-C13ADB2A1E95}"/>
              </a:ext>
            </a:extLst>
          </p:cNvPr>
          <p:cNvSpPr txBox="1"/>
          <p:nvPr/>
        </p:nvSpPr>
        <p:spPr>
          <a:xfrm>
            <a:off x="70368" y="1051155"/>
            <a:ext cx="4870359" cy="10500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1116"/>
              </a:lnSpc>
            </a:pP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 am an Agnostic 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Software Engineer specialized in Blockchain technology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with 8 years of experience as CTO, </a:t>
            </a:r>
            <a:r>
              <a:rPr lang="en-US" sz="93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HoD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Lead/Senior Blockchain Engineer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in multiple Web3 startups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projects mostly in 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Smart contract &amp; Backend in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DeFi, NFT, Gaming, Protocol, etc. I hold development experience in multipl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protocols like EVM, EOSIO, Substrate, Solana; contributed in many open-source projects as well.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N" sz="82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have consistently delivered high-quality work across multiple projects. Despite facing challenges like funding issues or µ-management style in the past, my focus on producing stellar results has remained unwavering.</a:t>
            </a:r>
            <a:endParaRPr lang="en-US" sz="82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C46C0B2-29CD-8DA9-4016-C43C82FE436F}"/>
              </a:ext>
            </a:extLst>
          </p:cNvPr>
          <p:cNvCxnSpPr>
            <a:cxnSpLocks/>
          </p:cNvCxnSpPr>
          <p:nvPr/>
        </p:nvCxnSpPr>
        <p:spPr>
          <a:xfrm>
            <a:off x="0" y="2112571"/>
            <a:ext cx="686482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FA6FBB63-E378-C966-7F5B-1314F98FA2EF}"/>
              </a:ext>
            </a:extLst>
          </p:cNvPr>
          <p:cNvGrpSpPr/>
          <p:nvPr/>
        </p:nvGrpSpPr>
        <p:grpSpPr>
          <a:xfrm>
            <a:off x="4911596" y="1124492"/>
            <a:ext cx="1091741" cy="276999"/>
            <a:chOff x="5205740" y="1134652"/>
            <a:chExt cx="1091741" cy="276999"/>
          </a:xfrm>
        </p:grpSpPr>
        <p:pic>
          <p:nvPicPr>
            <p:cNvPr id="6" name="Graphic 5" descr="Graduation cap with solid fill">
              <a:extLst>
                <a:ext uri="{FF2B5EF4-FFF2-40B4-BE49-F238E27FC236}">
                  <a16:creationId xmlns:a16="http://schemas.microsoft.com/office/drawing/2014/main" id="{C488CD68-901B-27C4-FDB1-BA6179528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205740" y="1160117"/>
              <a:ext cx="229392" cy="22939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F6E378-B571-A7D4-C037-51CABF536F7C}"/>
                </a:ext>
              </a:extLst>
            </p:cNvPr>
            <p:cNvSpPr txBox="1"/>
            <p:nvPr/>
          </p:nvSpPr>
          <p:spPr>
            <a:xfrm>
              <a:off x="5371920" y="1134652"/>
              <a:ext cx="9255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Education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63F2B599-B2AD-2CE3-8D39-1FBECB249497}"/>
              </a:ext>
            </a:extLst>
          </p:cNvPr>
          <p:cNvSpPr txBox="1"/>
          <p:nvPr/>
        </p:nvSpPr>
        <p:spPr>
          <a:xfrm>
            <a:off x="4861043" y="1321777"/>
            <a:ext cx="1666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2014</a:t>
            </a:r>
            <a:r>
              <a:rPr lang="en-US" sz="900" dirty="0"/>
              <a:t> – B.Tech in Avionics, </a:t>
            </a:r>
            <a:r>
              <a:rPr lang="en-US" sz="900" b="1" dirty="0"/>
              <a:t>IIST</a:t>
            </a:r>
            <a:r>
              <a:rPr lang="en-US" sz="900" dirty="0"/>
              <a:t>, Trivandrum</a:t>
            </a:r>
          </a:p>
        </p:txBody>
      </p: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B06C69AA-0D57-7D42-D24C-DEC36F246D73}"/>
              </a:ext>
            </a:extLst>
          </p:cNvPr>
          <p:cNvGrpSpPr/>
          <p:nvPr/>
        </p:nvGrpSpPr>
        <p:grpSpPr>
          <a:xfrm>
            <a:off x="4897051" y="854650"/>
            <a:ext cx="1219906" cy="276999"/>
            <a:chOff x="5209870" y="854650"/>
            <a:chExt cx="1219906" cy="276999"/>
          </a:xfrm>
        </p:grpSpPr>
        <p:pic>
          <p:nvPicPr>
            <p:cNvPr id="5" name="Graphic 4" descr="Ui Ux with solid fill">
              <a:extLst>
                <a:ext uri="{FF2B5EF4-FFF2-40B4-BE49-F238E27FC236}">
                  <a16:creationId xmlns:a16="http://schemas.microsoft.com/office/drawing/2014/main" id="{E437736C-46A1-E470-9CC3-CEA5A7AB5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209870" y="898165"/>
              <a:ext cx="203342" cy="20334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3D567B-E384-5DA7-5725-E4407708DC2E}"/>
                </a:ext>
              </a:extLst>
            </p:cNvPr>
            <p:cNvSpPr txBox="1"/>
            <p:nvPr/>
          </p:nvSpPr>
          <p:spPr>
            <a:xfrm>
              <a:off x="5372346" y="854650"/>
              <a:ext cx="10574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Experience</a:t>
              </a:r>
              <a:endParaRPr lang="en-US" sz="1400" b="1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F3C2EA2-D8B8-FE37-2FFC-602AB1F4DCDB}"/>
              </a:ext>
            </a:extLst>
          </p:cNvPr>
          <p:cNvSpPr txBox="1"/>
          <p:nvPr/>
        </p:nvSpPr>
        <p:spPr>
          <a:xfrm>
            <a:off x="6256867" y="879072"/>
            <a:ext cx="6037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9 </a:t>
            </a:r>
            <a:r>
              <a:rPr lang="en-US" sz="900" dirty="0"/>
              <a:t>years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248F727-CD5C-338A-BF85-FCF3C80C2D40}"/>
              </a:ext>
            </a:extLst>
          </p:cNvPr>
          <p:cNvCxnSpPr>
            <a:cxnSpLocks/>
          </p:cNvCxnSpPr>
          <p:nvPr/>
        </p:nvCxnSpPr>
        <p:spPr>
          <a:xfrm flipV="1">
            <a:off x="4837174" y="1124492"/>
            <a:ext cx="2020826" cy="153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C853C7AD-5BBD-528E-3F83-BB8D785A809B}"/>
              </a:ext>
            </a:extLst>
          </p:cNvPr>
          <p:cNvGrpSpPr/>
          <p:nvPr/>
        </p:nvGrpSpPr>
        <p:grpSpPr>
          <a:xfrm>
            <a:off x="126723" y="3682818"/>
            <a:ext cx="1502200" cy="292388"/>
            <a:chOff x="4141297" y="2671400"/>
            <a:chExt cx="1502200" cy="292388"/>
          </a:xfrm>
        </p:grpSpPr>
        <p:pic>
          <p:nvPicPr>
            <p:cNvPr id="1039" name="Graphic 1038">
              <a:extLst>
                <a:ext uri="{FF2B5EF4-FFF2-40B4-BE49-F238E27FC236}">
                  <a16:creationId xmlns:a16="http://schemas.microsoft.com/office/drawing/2014/main" id="{A5078535-166A-A2B0-1746-0A235F2F27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6" cstate="print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4141297" y="2718996"/>
              <a:ext cx="151949" cy="151949"/>
            </a:xfrm>
            <a:prstGeom prst="rect">
              <a:avLst/>
            </a:prstGeom>
          </p:spPr>
        </p:pic>
        <p:sp>
          <p:nvSpPr>
            <p:cNvPr id="1041" name="TextBox 1040">
              <a:extLst>
                <a:ext uri="{FF2B5EF4-FFF2-40B4-BE49-F238E27FC236}">
                  <a16:creationId xmlns:a16="http://schemas.microsoft.com/office/drawing/2014/main" id="{047282EB-86BB-1006-6293-B8A30D4A6E0D}"/>
                </a:ext>
              </a:extLst>
            </p:cNvPr>
            <p:cNvSpPr txBox="1"/>
            <p:nvPr/>
          </p:nvSpPr>
          <p:spPr>
            <a:xfrm>
              <a:off x="4214946" y="2671400"/>
              <a:ext cx="142855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00" b="1" dirty="0"/>
                <a:t>Career Timeline</a:t>
              </a:r>
            </a:p>
          </p:txBody>
        </p:sp>
      </p:grpSp>
      <p:sp>
        <p:nvSpPr>
          <p:cNvPr id="1058" name="TextBox 1057">
            <a:extLst>
              <a:ext uri="{FF2B5EF4-FFF2-40B4-BE49-F238E27FC236}">
                <a16:creationId xmlns:a16="http://schemas.microsoft.com/office/drawing/2014/main" id="{5C25085D-99FF-EF22-40A5-79C0AB40BA06}"/>
              </a:ext>
            </a:extLst>
          </p:cNvPr>
          <p:cNvSpPr txBox="1"/>
          <p:nvPr/>
        </p:nvSpPr>
        <p:spPr>
          <a:xfrm>
            <a:off x="88190" y="7821454"/>
            <a:ext cx="6657120" cy="1648849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2022 – Jun 2023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Head of Blockchain Department @ Rapid Innovation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ZKP algorithms, Project lead for building ZKP module with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zkSNARK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Fuel Blockchain using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Circom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Rust, Cairo (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zkSTARK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Cross-chain messaging protocols like Substrate XCMP,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Axelar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GMP to enable a web3 project support multi-chain.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Have worked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auto-compounding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vault based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Tetu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protocol using Foundry with contracts &amp; scripts written using Solidity.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Engineering Architect for NFT marketplace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Xstrela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VTR Connect, TGE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Orasis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extensive research on custom wallet development.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Audited the Projects’ Solidity &amp; Rust codebase for security vulnerabilities, code optimization, testing, documentation.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Collaborated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Xstrela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project, building scalable, thread-safe APIs using the </a:t>
            </a:r>
            <a:r>
              <a:rPr lang="en-IN" sz="900" b="0" i="0" u="sng" dirty="0" err="1">
                <a:solidFill>
                  <a:srgbClr val="374151"/>
                </a:solidFill>
                <a:effectLst/>
                <a:latin typeface="Söhne"/>
              </a:rPr>
              <a:t>Actix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-web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framework in Rust.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Upgrade the foundation stone for the blockchain department considering latest evolution in terms of SC security &amp; Gas optimization techniques, Use of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 tool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Fuzz testing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Periodic leadership on the project estimation on RFP received from several major clients.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836B448D-FC2E-09CE-3F28-8ED995FFD772}"/>
              </a:ext>
            </a:extLst>
          </p:cNvPr>
          <p:cNvSpPr txBox="1"/>
          <p:nvPr/>
        </p:nvSpPr>
        <p:spPr>
          <a:xfrm>
            <a:off x="88190" y="5379172"/>
            <a:ext cx="6657120" cy="1494961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Oct 2023 – Jul 2024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Solidity Engineer @ Subspace Labs (now Autonomys) | Full-time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Load testing of Subspace's EVM domain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Async Rust &amp; different Solidity contracts having low to high gas-consuming functions for sending transactions on-chain with custom load value; created Solidity repository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monorepo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community.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native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cross-chain bridge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based on custom LZ contracts between Subspace's EVM and other EVM chains using Solidity &amp; TypeScript; also, extensive Foundry unit &amp; integration testing done; found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 vulnerability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raised a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bug bounty report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Did some work on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ZK-based Identity solution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native product using TypeScript &amp; Solidity.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ETA Prediction of probabilistic farming reward for a Subspace farmer; released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 GTK4 FE component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Space Acres in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Plagiarism detection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on text embeddings via LSH random projection with Python &amp;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SDK development featuring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PKI-based identity for </a:t>
            </a:r>
            <a:r>
              <a:rPr lang="en-US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Autonomys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; Built a community telegram bot using Rust.</a:t>
            </a:r>
          </a:p>
        </p:txBody>
      </p:sp>
      <p:grpSp>
        <p:nvGrpSpPr>
          <p:cNvPr id="1060" name="Group 1059">
            <a:extLst>
              <a:ext uri="{FF2B5EF4-FFF2-40B4-BE49-F238E27FC236}">
                <a16:creationId xmlns:a16="http://schemas.microsoft.com/office/drawing/2014/main" id="{851142D0-0690-0115-8D40-10A319BDEB00}"/>
              </a:ext>
            </a:extLst>
          </p:cNvPr>
          <p:cNvGrpSpPr/>
          <p:nvPr/>
        </p:nvGrpSpPr>
        <p:grpSpPr>
          <a:xfrm>
            <a:off x="103342" y="2118190"/>
            <a:ext cx="2552737" cy="292388"/>
            <a:chOff x="183939" y="4975856"/>
            <a:chExt cx="2552737" cy="292388"/>
          </a:xfrm>
        </p:grpSpPr>
        <p:pic>
          <p:nvPicPr>
            <p:cNvPr id="1061" name="Graphic 1060" descr="Ribbon with solid fill">
              <a:extLst>
                <a:ext uri="{FF2B5EF4-FFF2-40B4-BE49-F238E27FC236}">
                  <a16:creationId xmlns:a16="http://schemas.microsoft.com/office/drawing/2014/main" id="{2FAC8F9C-3116-115B-D206-678E9C5B9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83939" y="5017505"/>
              <a:ext cx="213655" cy="213655"/>
            </a:xfrm>
            <a:prstGeom prst="rect">
              <a:avLst/>
            </a:prstGeom>
          </p:spPr>
        </p:pic>
        <p:sp>
          <p:nvSpPr>
            <p:cNvPr id="1062" name="TextBox 1061">
              <a:extLst>
                <a:ext uri="{FF2B5EF4-FFF2-40B4-BE49-F238E27FC236}">
                  <a16:creationId xmlns:a16="http://schemas.microsoft.com/office/drawing/2014/main" id="{A89D5A0A-90FA-65A0-8961-DDA37F4F2508}"/>
                </a:ext>
              </a:extLst>
            </p:cNvPr>
            <p:cNvSpPr txBox="1"/>
            <p:nvPr/>
          </p:nvSpPr>
          <p:spPr>
            <a:xfrm>
              <a:off x="340378" y="4975856"/>
              <a:ext cx="2396298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/>
                <a:t>Achievements</a:t>
              </a:r>
            </a:p>
          </p:txBody>
        </p:sp>
      </p:grpSp>
      <p:cxnSp>
        <p:nvCxnSpPr>
          <p:cNvPr id="1068" name="Straight Connector 1067">
            <a:extLst>
              <a:ext uri="{FF2B5EF4-FFF2-40B4-BE49-F238E27FC236}">
                <a16:creationId xmlns:a16="http://schemas.microsoft.com/office/drawing/2014/main" id="{0D638C51-EFB7-BFE6-08FB-939D349338F7}"/>
              </a:ext>
            </a:extLst>
          </p:cNvPr>
          <p:cNvCxnSpPr>
            <a:cxnSpLocks/>
          </p:cNvCxnSpPr>
          <p:nvPr/>
        </p:nvCxnSpPr>
        <p:spPr>
          <a:xfrm flipV="1">
            <a:off x="4843997" y="1667045"/>
            <a:ext cx="2020826" cy="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0" name="Graphic 1069" descr="Programmer male with solid fill">
            <a:extLst>
              <a:ext uri="{FF2B5EF4-FFF2-40B4-BE49-F238E27FC236}">
                <a16:creationId xmlns:a16="http://schemas.microsoft.com/office/drawing/2014/main" id="{B54478DF-3F9A-0287-F8D6-5B4A106AEB32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963319" y="1696781"/>
            <a:ext cx="172388" cy="172388"/>
          </a:xfrm>
          <a:prstGeom prst="rect">
            <a:avLst/>
          </a:prstGeom>
        </p:spPr>
      </p:pic>
      <p:sp>
        <p:nvSpPr>
          <p:cNvPr id="1071" name="TextBox 1070">
            <a:extLst>
              <a:ext uri="{FF2B5EF4-FFF2-40B4-BE49-F238E27FC236}">
                <a16:creationId xmlns:a16="http://schemas.microsoft.com/office/drawing/2014/main" id="{2C3D98A7-4765-3A78-F886-D81AC4A1467D}"/>
              </a:ext>
            </a:extLst>
          </p:cNvPr>
          <p:cNvSpPr txBox="1"/>
          <p:nvPr/>
        </p:nvSpPr>
        <p:spPr>
          <a:xfrm>
            <a:off x="5068143" y="1658150"/>
            <a:ext cx="154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Coding Languages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6EBE36BA-081A-D044-5C1A-FDBC1A2D80B8}"/>
              </a:ext>
            </a:extLst>
          </p:cNvPr>
          <p:cNvSpPr txBox="1"/>
          <p:nvPr/>
        </p:nvSpPr>
        <p:spPr>
          <a:xfrm>
            <a:off x="4826952" y="1873201"/>
            <a:ext cx="20691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Rust, Solidity, TypeScript, Python, C++</a:t>
            </a:r>
          </a:p>
        </p:txBody>
      </p:sp>
      <p:cxnSp>
        <p:nvCxnSpPr>
          <p:cNvPr id="1084" name="Straight Connector 1083">
            <a:extLst>
              <a:ext uri="{FF2B5EF4-FFF2-40B4-BE49-F238E27FC236}">
                <a16:creationId xmlns:a16="http://schemas.microsoft.com/office/drawing/2014/main" id="{4F46053C-9F44-CDCC-94FD-14EDA9F20151}"/>
              </a:ext>
            </a:extLst>
          </p:cNvPr>
          <p:cNvCxnSpPr>
            <a:cxnSpLocks/>
          </p:cNvCxnSpPr>
          <p:nvPr/>
        </p:nvCxnSpPr>
        <p:spPr>
          <a:xfrm>
            <a:off x="85726" y="1822556"/>
            <a:ext cx="0" cy="221446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E5E30A7-65DA-A547-03D7-66481467D28F}"/>
              </a:ext>
            </a:extLst>
          </p:cNvPr>
          <p:cNvSpPr txBox="1"/>
          <p:nvPr/>
        </p:nvSpPr>
        <p:spPr>
          <a:xfrm>
            <a:off x="88190" y="6919064"/>
            <a:ext cx="6657120" cy="879408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Jun – Sep 2023 | Self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Coursera Instructor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released a GP on “Target proximity game &amp; food delivery proximity app using Rust”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Rock-Paper-Scissors game using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3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commit-reveal cryptography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Bank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pallet for substrate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chain featuring traditional staking features like fixed, recurring deposits in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Revealable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Stakeable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Dynamic On-chain NFT for EVM chain; developed concurrent RESTful APIs using Rust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Actix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web framework.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49F38D-F5CF-FC40-3A03-D245CF6595EE}"/>
              </a:ext>
            </a:extLst>
          </p:cNvPr>
          <p:cNvSpPr txBox="1"/>
          <p:nvPr/>
        </p:nvSpPr>
        <p:spPr>
          <a:xfrm>
            <a:off x="87378" y="4003372"/>
            <a:ext cx="6657120" cy="1334661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Aug 2024 — Present | UniFi</a:t>
            </a:r>
          </a:p>
          <a:p>
            <a:pPr marL="171450" indent="-171450">
              <a:lnSpc>
                <a:spcPts val="14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Researched &amp; developed a novel highly scalable EVM Gasless Engine lowering on-chain fees by upto ↓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84%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supporting both custodial/non-custodial wallets. | Rust, Solidity.</a:t>
            </a:r>
          </a:p>
          <a:p>
            <a:pPr marL="171450" indent="-171450">
              <a:lnSpc>
                <a:spcPts val="14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modern, beautiful, responsive UI-based WASM web app with Tailwind. | (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Dioxus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 Rust, CSS.</a:t>
            </a:r>
          </a:p>
          <a:p>
            <a:pPr marL="171450" indent="-171450">
              <a:lnSpc>
                <a:spcPts val="1440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secure OTP system ensuring unique 6-digit codes within the 1M space using efficient allocation and expiry handling. | Rust.</a:t>
            </a:r>
          </a:p>
          <a:p>
            <a:pPr marL="171450" indent="-171450">
              <a:lnSpc>
                <a:spcPts val="14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&amp; deployed the Backend with API, Proxy servers (in Axum, ..); native modules — Auth, Payment, Wallet, Support. | Rust.</a:t>
            </a:r>
          </a:p>
          <a:p>
            <a:pPr marL="171450" indent="-171450">
              <a:lnSpc>
                <a:spcPts val="14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the interactive Telegram Bot with integrated mini-app. | Rust.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325E02-6193-A0F5-EAAB-B35CE2E64846}"/>
              </a:ext>
            </a:extLst>
          </p:cNvPr>
          <p:cNvCxnSpPr>
            <a:cxnSpLocks/>
          </p:cNvCxnSpPr>
          <p:nvPr/>
        </p:nvCxnSpPr>
        <p:spPr>
          <a:xfrm>
            <a:off x="11442" y="3662056"/>
            <a:ext cx="688469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764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45C106C-4F23-0674-382C-D397FC48A694}"/>
              </a:ext>
            </a:extLst>
          </p:cNvPr>
          <p:cNvSpPr txBox="1"/>
          <p:nvPr/>
        </p:nvSpPr>
        <p:spPr>
          <a:xfrm>
            <a:off x="100440" y="7859338"/>
            <a:ext cx="6657120" cy="1212833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2016 – Jan 2018 |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a full-stack developer, I created an Android App - "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BitInfoCoin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" for web3 space to provide crypto related services like show nearby crypto ATMs, exchanges, crypto price, news feed.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Extensive research into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Steem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blockchain’s Tokenomics model &amp; deep dived into EOS blockchain codebase. Wrote several contracts using C++; also written test scripts; deployment using CLI.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Recognized as a leading technical content creator for the Utopian developer community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Steem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Blockchain; also researched their consensus algorithm – ‘Proof of Brain’.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C24169-1928-6CE6-CD90-8C122AB43119}"/>
              </a:ext>
            </a:extLst>
          </p:cNvPr>
          <p:cNvSpPr txBox="1"/>
          <p:nvPr/>
        </p:nvSpPr>
        <p:spPr>
          <a:xfrm>
            <a:off x="100440" y="6810059"/>
            <a:ext cx="6657120" cy="1007648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Feb 2018 – Dec 2018 | Founding CTO @ DRIFE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Ride-sharing smart contracts suite for EOSIO blockchains using C++.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Established an interdisciplinary team for engineering, sales, marketing, and content creation.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Designed &amp; Formulated </a:t>
            </a:r>
            <a:r>
              <a:rPr lang="en-IN" sz="900" dirty="0" err="1">
                <a:solidFill>
                  <a:srgbClr val="374151"/>
                </a:solidFill>
              </a:rPr>
              <a:t>tokenomics</a:t>
            </a:r>
            <a:r>
              <a:rPr lang="en-IN" sz="900" dirty="0">
                <a:solidFill>
                  <a:srgbClr val="374151"/>
                </a:solidFill>
              </a:rPr>
              <a:t> and revenue model for zero-fee rides feasibility.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Authored technical whitepaper outlining governance, economics, and technology pillars &amp; platform architecture and product workflow.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Presented at the WBS event and successfully pitched to ~ 35 investors, resulting in recognition as one of the most innovative projects.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E2AF3D6-3043-6DC0-C211-7962F9332716}"/>
              </a:ext>
            </a:extLst>
          </p:cNvPr>
          <p:cNvSpPr txBox="1"/>
          <p:nvPr/>
        </p:nvSpPr>
        <p:spPr>
          <a:xfrm>
            <a:off x="100440" y="5105898"/>
            <a:ext cx="6657120" cy="1674497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Jan 2019 – Jun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on-chain and off-chain NFT projects using ERC721, ERC1155 standards, and NodeJS, Solidity, Hardhat. Automated deployment of Dynamic NFTs to IPFS,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Arweave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EVM smart contract projects related to ERC20 Token’s variants, Vault, Staking, NFT Marketplace, Auction for clients.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EOSIO smart contract projects -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GPK.Battles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(Betting game with RNG Oracle), Tipping, ICO (single/multi phases), Staking, Vault using C/C++, JavaScript/TypeScript.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three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Telegram Bots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(Tipping, KYC, Quiz) using EOSIO smart contracts and integrating Heroku Redis databases.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'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Autoplot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,' a CLI-based data visualization software leveraged in the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Indian Space Programme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for comprehensive analytics based on parsed Excel data; using python language.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Worked on numerous data wrangling projects in the semiconductor industry using Python and Rust; developed custom scripts.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4CF250-29E0-2DC4-858D-616F56CFA53B}"/>
              </a:ext>
            </a:extLst>
          </p:cNvPr>
          <p:cNvSpPr txBox="1"/>
          <p:nvPr/>
        </p:nvSpPr>
        <p:spPr>
          <a:xfrm>
            <a:off x="100440" y="4044514"/>
            <a:ext cx="6657120" cy="1033296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Jul 2021 – Sep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Lead Blockchain Developer @ Boot Finance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Conducted extensive research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Uniswap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Curve, and Saddle to write smart contracts for a DEX, utilizing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CustomSwap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AMM and liaised with a Quant researcher. 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robust test cases with Hardhat Typescript for the smart contracts – DEX, Vesting, Token.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Leveraged data wrangling techniques to categorize and modify user token allocations within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GSheets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; wrote API scripts for file upload.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74151"/>
                </a:solidFill>
              </a:rPr>
              <a:t>Explored the </a:t>
            </a:r>
            <a:r>
              <a:rPr lang="en-US" sz="900" dirty="0" err="1">
                <a:solidFill>
                  <a:srgbClr val="374151"/>
                </a:solidFill>
              </a:rPr>
              <a:t>Aave</a:t>
            </a:r>
            <a:r>
              <a:rPr lang="en-US" sz="900" dirty="0">
                <a:solidFill>
                  <a:srgbClr val="374151"/>
                </a:solidFill>
              </a:rPr>
              <a:t> protocol in order to add lending/borrowing feature on top of the platform.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F69BA6A-C548-CE2C-70D6-EEBD51FF5104}"/>
              </a:ext>
            </a:extLst>
          </p:cNvPr>
          <p:cNvSpPr txBox="1"/>
          <p:nvPr/>
        </p:nvSpPr>
        <p:spPr>
          <a:xfrm>
            <a:off x="100440" y="3142898"/>
            <a:ext cx="6657120" cy="879408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2021 – Mar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Blockchain Engineer @ Master Ventures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Contract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on translating an EVM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crowdsale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smart contract from Solidity to Solana using Rust language; also documented.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Played a key role in the launch of the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Polkadot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parachain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'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Paidchain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,'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Substrate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Cumulus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repositories, and CLI tools for network launch.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Evaluated </a:t>
            </a:r>
            <a:r>
              <a:rPr lang="en-IN" sz="900" dirty="0" err="1">
                <a:solidFill>
                  <a:srgbClr val="374151"/>
                </a:solidFill>
              </a:rPr>
              <a:t>Paidchain</a:t>
            </a:r>
            <a:r>
              <a:rPr lang="en-IN" sz="900" dirty="0">
                <a:solidFill>
                  <a:srgbClr val="374151"/>
                </a:solidFill>
              </a:rPr>
              <a:t> deployment by executing a sample EVM smart contract development lifecycle via Hardhat; also documented.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DAF098-062D-4904-6090-6479353738B2}"/>
              </a:ext>
            </a:extLst>
          </p:cNvPr>
          <p:cNvSpPr txBox="1"/>
          <p:nvPr/>
        </p:nvSpPr>
        <p:spPr>
          <a:xfrm>
            <a:off x="100440" y="9105774"/>
            <a:ext cx="6657120" cy="7383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2014 – Sep 2016 | Scientist @ ISRO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in field of "Dry Etching" in 8-inch foundry for fabrication of CMOS, ASIC devices.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a command-line interface (CLI) application in Python for automated analysis of large-scale data (QC, production) collected from foundry machines.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B16A10-E89C-D995-77E7-6401F71FE9C1}"/>
              </a:ext>
            </a:extLst>
          </p:cNvPr>
          <p:cNvSpPr txBox="1"/>
          <p:nvPr/>
        </p:nvSpPr>
        <p:spPr>
          <a:xfrm>
            <a:off x="100440" y="1618273"/>
            <a:ext cx="6657120" cy="1494961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Dec 2021 – May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CTO @ Theia Finance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Contract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Architected a modular, upgradeable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DeFi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platform and smart contract system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ERC-2535 Diamond Standard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. Also crafted a DAO-governed crowdfunding platform based on bonding curves; also featured an option of collective formation by top investors.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Drove product iterations and custom token faucet trials, boosting Discord community from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300 to 30k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while managing database scalability for concurrent usage.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Engaged in product design deliberations, whitepaper composition, and provided extensive hands-on guidance for full-stack and blockchain development to the team.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Researched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cross-chain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capabilities via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Layerzero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projects, including engaging in technical discourse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Axelar's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features.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Collaboratively wrote and audited solidity smart contracts, enhancing security, optimizing gas use, and minimizing contract size.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A4BC5C-0C4E-8A8B-3273-A8D5FD602CB3}"/>
              </a:ext>
            </a:extLst>
          </p:cNvPr>
          <p:cNvSpPr txBox="1"/>
          <p:nvPr/>
        </p:nvSpPr>
        <p:spPr>
          <a:xfrm>
            <a:off x="88190" y="48480"/>
            <a:ext cx="6657120" cy="1546257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May 2022 – Oct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Smart Contract Backend Engineer @ Upside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with auditors from </a:t>
            </a:r>
            <a:r>
              <a:rPr lang="en-IN" sz="900" b="0" i="0" u="sng" dirty="0" err="1">
                <a:solidFill>
                  <a:srgbClr val="374151"/>
                </a:solidFill>
                <a:effectLst/>
              </a:rPr>
              <a:t>Quantstamp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Certik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Omniscia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on Token, Vesting, Staking Solidity smart contracts for clients including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Metacraft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Delysium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Zedrun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etc.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Designed AMM &amp; Developed smart contracts for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DEX - “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Bioform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MIT using their free-energy based parametrized model. 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While writing smart contracts, I ensured testing, deployment scripts, flattening, verification, fuzzy-testing, gas optimization (using Yul, Solidity), contract-size optimization of smart contracts using Truffle, Hardhat,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tools before deploying 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mainnet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testnet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Co-developed and led 'Zippy' TGE tool project, crafting architecture with whitepaper, built REST APIs with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NextJS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conducting API tests via data mocking and integrated Swagger UI; also managed Firebase's NoSQL &amp; SQL databases.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Proficient in React and Redux.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Implemented CI/CD via GitHub Actions and Docker for automated testing and repository packaging, respectively.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445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2921</TotalTime>
  <Words>1765</Words>
  <Application>Microsoft Macintosh PowerPoint</Application>
  <PresentationFormat>A4 Paper (210x297 mm)</PresentationFormat>
  <Paragraphs>94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Segoe UI</vt:lpstr>
      <vt:lpstr>Söhne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abhijit roy</dc:creator>
  <cp:lastModifiedBy>Abhijit Roy</cp:lastModifiedBy>
  <cp:revision>618</cp:revision>
  <dcterms:created xsi:type="dcterms:W3CDTF">2022-10-06T16:05:05Z</dcterms:created>
  <dcterms:modified xsi:type="dcterms:W3CDTF">2025-08-19T06:42:59Z</dcterms:modified>
</cp:coreProperties>
</file>